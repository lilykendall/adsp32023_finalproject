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48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COMPUTER VISION FINAL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Picture to Recipe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 Model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Xander Deanhardt   ·   Lily Kendall   ·   Ken Lew   ·   Payton Stewart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17,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Introductions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01368"/>
            <a:ext cx="52271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6" name="Image 0" descr="/private/tmp/claude-501/-Users-karmakendall-repos-adsp32023-FinalProject/221eb9ba-e4b2-4f3b-b6d5-3a49999dc661/scratchpad/pptx_build/assets/sq_team_xan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07108"/>
            <a:ext cx="1005840" cy="100584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185416"/>
            <a:ext cx="348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Xander Deanhardt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148840" y="262432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Matching — Integration Lead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24448" y="1801368"/>
            <a:ext cx="52271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10" name="Image 1" descr="/private/tmp/claude-501/-Users-karmakendall-repos-adsp32023-FinalProject/221eb9ba-e4b2-4f3b-b6d5-3a49999dc661/scratchpad/pptx_build/assets/sq_team_lil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8" y="2007108"/>
            <a:ext cx="1005840" cy="1005840"/>
          </a:xfrm>
          <a:prstGeom prst="ellipse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33208" y="2185416"/>
            <a:ext cx="348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Lily Kendall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833208" y="262432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— Modeling &amp; UI Lead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3538728"/>
            <a:ext cx="52271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14" name="Image 2" descr="/private/tmp/claude-501/-Users-karmakendall-repos-adsp32023-FinalProject/221eb9ba-e4b2-4f3b-b6d5-3a49999dc661/scratchpad/pptx_build/assets/sq_team_ke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44468"/>
            <a:ext cx="1005840" cy="1005840"/>
          </a:xfrm>
          <a:prstGeom prst="ellipse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148840" y="3922776"/>
            <a:ext cx="348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 Lew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2148840" y="436168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Matching — Feature Engineer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324448" y="3538728"/>
            <a:ext cx="52271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18" name="Image 3" descr="/private/tmp/claude-501/-Users-karmakendall-repos-adsp32023-FinalProject/221eb9ba-e4b2-4f3b-b6d5-3a49999dc661/scratchpad/pptx_build/assets/sq_team_payton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48" y="3744468"/>
            <a:ext cx="1005840" cy="1005840"/>
          </a:xfrm>
          <a:prstGeom prst="ellipse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33208" y="3922776"/>
            <a:ext cx="348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Payton Stewart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7833208" y="436168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— Modeling Lead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0136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9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80136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Goal?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0" y="1801368"/>
            <a:ext cx="5882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‘What can I cook right now?’ by converting photos into recipes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9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42316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2423160"/>
            <a:ext cx="5882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13,500+ recipes &amp; 280,000+ food images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4495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9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04495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1: Ingredient Detection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3044952"/>
            <a:ext cx="5882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real-time YOLOv8s against Faster R-CNN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666744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9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66674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2: Recipe Recommendation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3666744"/>
            <a:ext cx="5882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Jaccard keyword matching vs. Qwen3 LLM embeddings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28853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9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28853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MLOps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4288536"/>
            <a:ext cx="5882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 and maintenance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91032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9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91032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Vision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0" y="4910328"/>
            <a:ext cx="5882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takeaways, limitations, and roadmap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Photo to a Recipe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92808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 &amp; Scan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04288"/>
            <a:ext cx="5181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problem: people often have ingredients on hand but don’t know what dish they can make without missing key items.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points their phone camera at the counter; computer vision localizes food items instantly.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70168" y="1892808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&amp; Cook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70168" y="2304288"/>
            <a:ext cx="5181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ingredient labels feed a retrieval engine that scores 13,500+ recipes by what you actually have.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fallback: a fine-tuned embedding model steps in when labels are noisy or use regional variants.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Images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01368"/>
          <a:ext cx="10911535" cy="914400"/>
        </p:xfrm>
        <a:graphic>
          <a:graphicData uri="http://schemas.openxmlformats.org/drawingml/2006/table">
            <a:tbl>
              <a:tblPr/>
              <a:tblGrid>
                <a:gridCol w="2727884"/>
                <a:gridCol w="2727884"/>
                <a:gridCol w="2727884"/>
                <a:gridCol w="272788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FV40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282,794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FOOD-INGREDIENTS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22,843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(unified)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27,193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305,637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401568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813048"/>
            <a:ext cx="5181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inconsistent class names across sources; fixed labeling errors.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train/val/test splits from scratch to prevent duplicate leakage.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70168" y="3401568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70168" y="3813048"/>
            <a:ext cx="5181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class (banana) has 7,300x more examples than the rarest (long beans).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skews toward produce, with too few protein and spice examples.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60484" y="4727448"/>
            <a:ext cx="307072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11" name="Image 0" descr="/private/tmp/claude-501/-Users-karmakendall-repos-adsp32023-FinalProject/221eb9ba-e4b2-4f3b-b6d5-3a49999dc661/scratchpad/pptx_build/assets/chart_food_clas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7644" y="4864608"/>
            <a:ext cx="2796408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 Images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01368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2093976"/>
            <a:ext cx="522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merged 13,509 recipes (13,319 unique dish names) from Epicurious and the Spoonacular API.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24448" y="1801368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4448" y="2093976"/>
            <a:ext cx="522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measurements, quantities, and prep verbs to produce 25,337 clean ingredient tokens.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172968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COUNT DISTRIBUTION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465576"/>
            <a:ext cx="522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average 10.6 ingredients (median 10), providing multi-ingredient matching context.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24448" y="3172968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24448" y="3465576"/>
            <a:ext cx="522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ingredient overlap between random recipes is only 0.50 shared items.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17267" y="4270248"/>
            <a:ext cx="2957161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14" name="Image 0" descr="/private/tmp/claude-501/-Users-karmakendall-repos-adsp32023-FinalProject/221eb9ba-e4b2-4f3b-b6d5-3a49999dc661/scratchpad/pptx_build/assets/chart_top_ingred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427" y="4407408"/>
            <a:ext cx="2682841" cy="1874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Flavor Profiles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92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CUISINE MAPPING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2313432"/>
            <a:ext cx="3108960" cy="201168"/>
          </a:xfrm>
          <a:prstGeom prst="rect">
            <a:avLst/>
          </a:prstGeom>
          <a:solidFill>
            <a:srgbClr val="2C4A2E"/>
          </a:solidFill>
          <a:ln/>
        </p:spPr>
      </p:sp>
      <p:sp>
        <p:nvSpPr>
          <p:cNvPr id="8" name="Text 6"/>
          <p:cNvSpPr/>
          <p:nvPr/>
        </p:nvSpPr>
        <p:spPr>
          <a:xfrm>
            <a:off x="5440680" y="22585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2752344"/>
            <a:ext cx="1832066" cy="201168"/>
          </a:xfrm>
          <a:prstGeom prst="rect">
            <a:avLst/>
          </a:prstGeom>
          <a:solidFill>
            <a:srgbClr val="2C4A2E"/>
          </a:solidFill>
          <a:ln/>
        </p:spPr>
      </p:sp>
      <p:sp>
        <p:nvSpPr>
          <p:cNvPr id="11" name="Text 9"/>
          <p:cNvSpPr/>
          <p:nvPr/>
        </p:nvSpPr>
        <p:spPr>
          <a:xfrm>
            <a:off x="5440680" y="2697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1363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3191256"/>
            <a:ext cx="1424940" cy="201168"/>
          </a:xfrm>
          <a:prstGeom prst="rect">
            <a:avLst/>
          </a:prstGeom>
          <a:solidFill>
            <a:srgbClr val="2C4A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31363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5753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94560" y="3630168"/>
            <a:ext cx="869769" cy="201168"/>
          </a:xfrm>
          <a:prstGeom prst="rect">
            <a:avLst/>
          </a:prstGeom>
          <a:solidFill>
            <a:srgbClr val="2C4A2E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357530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1801368"/>
            <a:ext cx="5150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&amp; RATING PROXY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2093976"/>
            <a:ext cx="5150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complexity is scored from technique verbs (braise, sauté, caramelize) and ingredient counts.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3035808"/>
            <a:ext cx="5150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INGREDIENT PAIRINGS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3328416"/>
            <a:ext cx="5150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co-occurrence clusters: garlic + onion, olive oil + tomato, soy sauce + ginger.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4270248"/>
            <a:ext cx="5150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IMPLICATION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4562856"/>
            <a:ext cx="5150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token matching handles common staples easily; complex dishes benefit from semantic embeddings.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3950208"/>
            <a:ext cx="2717525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25" name="Image 0" descr="/private/tmp/claude-501/-Users-karmakendall-repos-adsp32023-FinalProject/221eb9ba-e4b2-4f3b-b6d5-3a49999dc661/scratchpad/pptx_build/assets/chart_cooccurrence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87368"/>
            <a:ext cx="2443205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Ingredients in Photos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locate and classify all food items visible on a user’s counter.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object detection, not classification: recipe matching needs what and roughly how many, so bounding boxes matter — not just “this photo contains an apple.”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944368"/>
            <a:ext cx="5227168" cy="3081528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272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630168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3849624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 detector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352544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 — suits a live, counter-photo app experience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5074920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5294376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Speed-optimized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24448" y="2944368"/>
            <a:ext cx="5227168" cy="3081528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3048" y="31272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R-CNN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53048" y="3630168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53048" y="3849624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detector (region proposal → classification)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53048" y="4352544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53048" y="45720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accuracy-oriented classic baseline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53048" y="5074920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53048" y="5294376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Accuracy-optimized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·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 Results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YOLOv8s, 30 epochs, trained on the full ~23K images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2487854" cy="1371600"/>
          </a:xfrm>
          <a:prstGeom prst="roundRect">
            <a:avLst>
              <a:gd name="adj" fmla="val 5333"/>
            </a:avLst>
          </a:prstGeom>
          <a:solidFill>
            <a:srgbClr val="E9E4D2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95728"/>
            <a:ext cx="22135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0.247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77240" y="3035808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47974" y="2258568"/>
            <a:ext cx="2487854" cy="1371600"/>
          </a:xfrm>
          <a:prstGeom prst="roundRect">
            <a:avLst>
              <a:gd name="adj" fmla="val 5333"/>
            </a:avLst>
          </a:prstGeom>
          <a:solidFill>
            <a:srgbClr val="E9E4D2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5134" y="2395728"/>
            <a:ext cx="22135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0.146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585134" y="3035808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mAP@50-95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55868" y="2258568"/>
            <a:ext cx="2487854" cy="1371600"/>
          </a:xfrm>
          <a:prstGeom prst="roundRect">
            <a:avLst>
              <a:gd name="adj" fmla="val 5333"/>
            </a:avLst>
          </a:prstGeom>
          <a:solidFill>
            <a:srgbClr val="E9E4D2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3028" y="2395728"/>
            <a:ext cx="22135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0.440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393028" y="3035808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63761" y="2258568"/>
            <a:ext cx="2487854" cy="1371600"/>
          </a:xfrm>
          <a:prstGeom prst="roundRect">
            <a:avLst>
              <a:gd name="adj" fmla="val 5333"/>
            </a:avLst>
          </a:prstGeom>
          <a:solidFill>
            <a:srgbClr val="E9E4D2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00921" y="2395728"/>
            <a:ext cx="22135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0.277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200921" y="3035808"/>
            <a:ext cx="2213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395020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quality is highest with abundant data, though mid-range classes show more variance — likely reflecting which specific ingredients fall in that range rather than data volume alone.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87558" y="4636008"/>
            <a:ext cx="2616579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20" name="Image 0" descr="/private/tmp/claude-501/-Users-karmakendall-repos-adsp32023-FinalProject/221eb9ba-e4b2-4f3b-b6d5-3a49999dc661/scratchpad/pptx_build/assets/chart_detection_by_vol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4718" y="4773168"/>
            <a:ext cx="2342259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·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R-CNN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92808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E9E4D2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7568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full training 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2121408"/>
            <a:ext cx="8076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time and GPU limitations, the model was trained on a 30% subset of the full training dataset, reducing performance overall compared to a full-dataset run.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11241" y="3355848"/>
            <a:ext cx="5569214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10" name="Image 0" descr="/private/tmp/claude-501/-Users-karmakendall-repos-adsp32023-FinalProject/221eb9ba-e4b2-4f3b-b6d5-3a49999dc661/scratchpad/pptx_build/assets/chart_frcnn_ap_by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8401" y="3493008"/>
            <a:ext cx="5294894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· VERDICT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Best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01368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2C4A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01368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Winner: YOLOv8s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670048"/>
            <a:ext cx="6492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model trained on the full ~23K-image dataset (Faster R-CNN’s comparable run used a 30% stratified subset for compute-time reasons).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mAP@50-95 (0.146 vs. 0.136) despite that data-volume gap — a stronger result than the raw numbers alone suggest.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 matters directly for a live, phone-camera app experience.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(ResNet-50) edges ahead on mAP@50 (0.277 vs. 0.247), but YOLOv8s is the better fit once training-data scope and deployment speed are both weighed 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60920" y="2805525"/>
            <a:ext cx="4327855" cy="3295206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9" name="Image 0" descr="/private/tmp/claude-501/-Users-karmakendall-repos-adsp32023-FinalProject/221eb9ba-e4b2-4f3b-b6d5-3a49999dc661/scratchpad/pptx_build/assets/chart_yolo_vs_frc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942685"/>
            <a:ext cx="4053535" cy="30208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Images to Recipes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take the ingredients the model saw and recommend a recipe.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 — detected ingredients: Carrots, Celery, Tomatoes, Onions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52928"/>
            <a:ext cx="5227168" cy="3081528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3580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Jaccard Similarity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538728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3758184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 — shared-ingredient overlap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261104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448056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Fast; highest accuracy when tokens are predictable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4983480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5202936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accuracy — optimized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24448" y="2852928"/>
            <a:ext cx="5227168" cy="3081528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3048" y="303580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Qwen-0.6B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53048" y="3538728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53048" y="3758184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— cosine similarity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53048" y="4261104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53048" y="448056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meaning and combinations; reliable in edge cases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53048" y="4983480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53048" y="5202936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Versatility — optimized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·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Lightning-Fast Keyword Matching Results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01368"/>
            <a:ext cx="2487854" cy="1143000"/>
          </a:xfrm>
          <a:prstGeom prst="roundRect">
            <a:avLst>
              <a:gd name="adj" fmla="val 6400"/>
            </a:avLst>
          </a:prstGeom>
          <a:solidFill>
            <a:srgbClr val="E9E4D2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38528"/>
            <a:ext cx="22135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98.7%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7240" y="2578608"/>
            <a:ext cx="22135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Hit Rate @10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47974" y="1801368"/>
            <a:ext cx="2487854" cy="1143000"/>
          </a:xfrm>
          <a:prstGeom prst="roundRect">
            <a:avLst>
              <a:gd name="adj" fmla="val 6400"/>
            </a:avLst>
          </a:prstGeom>
          <a:solidFill>
            <a:srgbClr val="E9E4D2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5134" y="1938528"/>
            <a:ext cx="22135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0.941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585134" y="2578608"/>
            <a:ext cx="22135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MRR @10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55868" y="1801368"/>
            <a:ext cx="2487854" cy="1143000"/>
          </a:xfrm>
          <a:prstGeom prst="roundRect">
            <a:avLst>
              <a:gd name="adj" fmla="val 6400"/>
            </a:avLst>
          </a:prstGeom>
          <a:solidFill>
            <a:srgbClr val="E9E4D2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3028" y="1938528"/>
            <a:ext cx="22135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98.4%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393028" y="2578608"/>
            <a:ext cx="22135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Coverage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63761" y="1801368"/>
            <a:ext cx="2487854" cy="1143000"/>
          </a:xfrm>
          <a:prstGeom prst="roundRect">
            <a:avLst>
              <a:gd name="adj" fmla="val 6400"/>
            </a:avLst>
          </a:prstGeom>
          <a:solidFill>
            <a:srgbClr val="E9E4D2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00921" y="1938528"/>
            <a:ext cx="221353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&lt;10ms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200921" y="2578608"/>
            <a:ext cx="22135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Inference / Query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72968"/>
          <a:ext cx="10911535" cy="914400"/>
        </p:xfrm>
        <a:graphic>
          <a:graphicData uri="http://schemas.openxmlformats.org/drawingml/2006/table">
            <a:tbl>
              <a:tblPr/>
              <a:tblGrid>
                <a:gridCol w="1558791"/>
                <a:gridCol w="1558791"/>
                <a:gridCol w="1558791"/>
                <a:gridCol w="1558791"/>
                <a:gridCol w="1558791"/>
                <a:gridCol w="1558791"/>
                <a:gridCol w="1558791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HR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HR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MRR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MRR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Cov.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Cov.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· METHOD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Synonym LLM (Qwen3-Embedding)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112368" y="2075688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2C4A2E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0968" y="2258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40968" y="26700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name + ingredient list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29888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87088" y="2075688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5688" y="2258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15688" y="26700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2+ ingredients with anchor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04608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61808" y="2075688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0408" y="2258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90408" y="267004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0 ingredients with anchor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99592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and negative pairs teach the embedding model to place similar-ingredient dishes close together, and dissimilar dishes far apart, in embedding space.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·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Results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01368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Qwen fine-tuned with only ingredients beats every other model (K = 10, 96.6%), and is the only one to beat the baseline.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dish names always provides a weak and misleading signal — ingredients let the model learn.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90088"/>
          <a:ext cx="10911535" cy="914400"/>
        </p:xfrm>
        <a:graphic>
          <a:graphicData uri="http://schemas.openxmlformats.org/drawingml/2006/table">
            <a:tbl>
              <a:tblPr/>
              <a:tblGrid>
                <a:gridCol w="1818589"/>
                <a:gridCol w="1818589"/>
                <a:gridCol w="1818589"/>
                <a:gridCol w="1818589"/>
                <a:gridCol w="1818589"/>
                <a:gridCol w="1818589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1 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2 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3 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4 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· VERDICT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 &amp; Hybrid Recipe Retrieval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01368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Jaccard Wins — more accurate: 91.2% Hit Rate@1 and 0.912 MRR beats the fine-tuned LLM on every metric.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Near-instant: under 1ms on CPU.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needed: Qwen3 requires ~1GB of model weights for a measurably worse answer.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 solved: a 148-entry vocabulary bridge maps detector classes to recipe text.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75888"/>
          <a:ext cx="10911535" cy="914400"/>
        </p:xfrm>
        <a:graphic>
          <a:graphicData uri="http://schemas.openxmlformats.org/drawingml/2006/table">
            <a:tbl>
              <a:tblPr/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MRR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MRR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MLOPS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Architecture</a:t>
            </a:r>
            <a:endParaRPr lang="en-US" sz="3400" dirty="0"/>
          </a:p>
        </p:txBody>
      </p:sp>
      <p:pic>
        <p:nvPicPr>
          <p:cNvPr id="5" name="Image 0" descr="/private/tmp/claude-501/-Users-karmakendall-repos-adsp32023-FinalProject/221eb9ba-e4b2-4f3b-b6d5-3a49999dc661/scratchpad/pptx_build/assets/diagra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6375" y="1801368"/>
            <a:ext cx="5378946" cy="45079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D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4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Impact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01368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Accomplishments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5181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working app: upload a photo, detect ingredients, get ranked recipes.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won the detection comparison — faster, more accurate, and the only model trained on the full dataset; deployed with tiled inference.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beat the fine-tuned LLM: simpler, faster, and higher accuracy on every retrieval metric.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70168" y="1801368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Future Impact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70168" y="2212848"/>
            <a:ext cx="5181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ingredient taxonomy (meats, dairy, grains) to unlock full recipe matching.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small-object gap — recall on small items is 0.405 vs. 0.736 for large.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fallback for edge cases: Qwen3 embeddings could handle regional synonyms (e.g. aubergine vs. eggplant) the taxonomy doesn’t yet cover.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take questions at this time.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Sources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01368"/>
            <a:ext cx="10911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with full source code and app deployment.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YOLOv8 documentation — docs.ultralytics.com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 Faster R-CNN (fasterrcnn_resnet50_fpn_v2, fasterrcnn_mobilenet_v3_large_fpn) — pytorch.org/vision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Qwen3-Embedding-0.6B — Hugging Face Hub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FV40 and FOOD-INGREDIENTS datasets (Roboflow / COCO-format sources)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Epicurious and Spoonacular recipe data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Session 4 (Object Detection &amp; Segmentation) — course-provided workshop notebook, YOLOv8 training conventions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01368"/>
            <a:ext cx="109115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end-to-end pipeline that turns a photo of a kitchen counter into ranked recipe suggestions. Two problems are solved in sequence: object detection (identifying which ingredients are visible, and roughly how many) and retrieval (matching detected ingredients against a 13,509-recipe corpus).
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detection, we compared YOLOv8s against a Faster R-CNN champion-challenger pair (ResNet-50 vs. MobileNetV3 backbones), training on a merged 27,193-image, 148-class dataset built from FV40 and FOOD-INGREDIENTS.
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achieved mAP@50 = 0.247 on the full training set; for retrieval, a simple Jaccard keyword-matching baseline outperformed a fine-tuned Qwen3 embedding model across every metric tested (91.2% Hit Rate@1 vs. 90.6%), a finding that shaped our final deployment choice. The result is a working FastAPI-served pipeline: photo in, ranked recipes out.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Image Data: Full EDA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cleaning steps, and the top 25 of 148 training classes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58568"/>
          <a:ext cx="10911535" cy="914400"/>
        </p:xfrm>
        <a:graphic>
          <a:graphicData uri="http://schemas.openxmlformats.org/drawingml/2006/table">
            <a:tbl>
              <a:tblPr/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FV40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282,794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FOOD-INGREDIENTS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22,843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(unified)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27,193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305,637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858768"/>
            <a:ext cx="6035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class taxonomy across sources — resolved case differences and translated-name normalization, reviewed manually before merge.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split leakage: 8.8% of FOOD-INGREDIENTS photos had augmented copies scattered across splits; reassigned by majority vote to a single split.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fresh stratified 80/10/10 split for FV40, which had none originally.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859300" y="3721608"/>
            <a:ext cx="2873895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9" name="Image 0" descr="/private/tmp/claude-501/-Users-karmakendall-repos-adsp32023-FinalProject/221eb9ba-e4b2-4f3b-b6d5-3a49999dc661/scratchpad/pptx_build/assets/chart_food_classes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6460" y="3858768"/>
            <a:ext cx="2599575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 Data: EDA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13,509 recipes merged from Epicurious &amp; Spoonacular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58568"/>
          <a:ext cx="6583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recipes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dish names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13,319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/ median ingredients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 /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 / min / max ingredients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 / 0 / 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/ unparseable lists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recipes (0.05%)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96566" y="2121408"/>
            <a:ext cx="3748004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8" name="Image 0" descr="/private/tmp/claude-501/-Users-karmakendall-repos-adsp32023-FinalProject/221eb9ba-e4b2-4f3b-b6d5-3a49999dc661/scratchpad/pptx_build/assets/chart_top_ingredients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726" y="2258568"/>
            <a:ext cx="3473684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 Data: Ingredient Co-occurrence &amp; Complexity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01368"/>
            <a:ext cx="10911535" cy="1463040"/>
          </a:xfrm>
          <a:prstGeom prst="roundRect">
            <a:avLst>
              <a:gd name="adj" fmla="val 5000"/>
            </a:avLst>
          </a:prstGeom>
          <a:solidFill>
            <a:srgbClr val="E9E4D2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299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05840" y="2807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per recipe, typical range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0" y="2167128"/>
            <a:ext cx="6339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/ violin analysis: most recipes use 8–15 ingredients, with a heavy right tail toward complex dishes.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69061" y="3310128"/>
            <a:ext cx="5253574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10" name="Image 0" descr="/private/tmp/claude-501/-Users-karmakendall-repos-adsp32023-FinalProject/221eb9ba-e4b2-4f3b-b6d5-3a49999dc661/scratchpad/pptx_build/assets/chart_violin_complex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6221" y="3447288"/>
            <a:ext cx="4979254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 Data: Bivariate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0136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relationship between recipe complexity and cuisine / rating variables, explored to understand what drives multi-ingredient dishes.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9418" y="2670048"/>
            <a:ext cx="6072859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7" name="Image 0" descr="/private/tmp/claude-501/-Users-karmakendall-repos-adsp32023-FinalProject/221eb9ba-e4b2-4f3b-b6d5-3a49999dc661/scratchpad/pptx_build/assets/chart_lift_by_cuis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6578" y="2807208"/>
            <a:ext cx="5798539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 Data: Bivariate Analysis (Cuisine &amp; Rating)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01368"/>
            <a:ext cx="3423818" cy="1463040"/>
          </a:xfrm>
          <a:prstGeom prst="roundRect">
            <a:avLst>
              <a:gd name="adj" fmla="val 5000"/>
            </a:avLst>
          </a:prstGeom>
          <a:solidFill>
            <a:srgbClr val="E9E4D2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38528"/>
            <a:ext cx="3149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21x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7240" y="2578608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Bacon vs. average — American cuisine signature ingredient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3938" y="1801368"/>
            <a:ext cx="3423818" cy="1463040"/>
          </a:xfrm>
          <a:prstGeom prst="roundRect">
            <a:avLst>
              <a:gd name="adj" fmla="val 5000"/>
            </a:avLst>
          </a:prstGeom>
          <a:solidFill>
            <a:srgbClr val="E9E4D2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1098" y="1938528"/>
            <a:ext cx="3149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23x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521098" y="2578608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 vs. average — Mediterranean cuisine signature ingredient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27797" y="1801368"/>
            <a:ext cx="3423818" cy="1463040"/>
          </a:xfrm>
          <a:prstGeom prst="roundRect">
            <a:avLst>
              <a:gd name="adj" fmla="val 5000"/>
            </a:avLst>
          </a:prstGeom>
          <a:solidFill>
            <a:srgbClr val="E9E4D2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4957" y="1938528"/>
            <a:ext cx="3149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 → 17.0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264957" y="2578608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ingredients, rating 1 → rating 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538728"/>
            <a:ext cx="10911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measures how much more often an ingredient appears in a cuisine vs. the global average.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(proxy) vs. complexity shows a strong positive relationship — more ingredients, higher rating.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5690" y="4178808"/>
            <a:ext cx="5780314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16" name="Image 0" descr="/private/tmp/claude-501/-Users-karmakendall-repos-adsp32023-FinalProject/221eb9ba-e4b2-4f3b-b6d5-3a49999dc661/scratchpad/pptx_build/assets/chart_rating_vs_complex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2850" y="4315968"/>
            <a:ext cx="5505994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1: YOLOv8 Full Results</a:t>
            </a:r>
            <a:endParaRPr lang="en-US" sz="3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01368"/>
          <a:ext cx="60350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epochs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YOLOv8s, 30 epochs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conf=0.25, iou=0.45, patience=10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Evaluated classes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 of 148 (46 had zero test instances)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040880" y="1801368"/>
            <a:ext cx="45107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is a single-stage, anchor-free detector: predicts boxes and classes in one pass, favoring inference speed over the region-proposal precision of two-stage detectors. Well suited to a live, counter-photo app experience.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987958" y="3401568"/>
            <a:ext cx="2616579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8" name="Image 0" descr="/private/tmp/claude-501/-Users-karmakendall-repos-adsp32023-FinalProject/221eb9ba-e4b2-4f3b-b6d5-3a49999dc661/scratchpad/pptx_build/assets/chart_detection_by_vol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5118" y="3538728"/>
            <a:ext cx="2342259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1: Faster R-CNN Backbone Comparison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FPN v2 vs. MobileNetV3-Large FPN, everything else held constant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5227168" cy="3803904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414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ResNet-50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44368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3163824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0.277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666744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MAP@50-95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38862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0.136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4389120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4608576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34.7 img/s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5111496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5330952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43.7M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24448" y="2258568"/>
            <a:ext cx="5227168" cy="3803904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3048" y="24414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MobileNetV3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3048" y="2944368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53048" y="3163824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53048" y="3666744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MAP@50-95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53048" y="38862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53048" y="4389120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53048" y="4608576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 img/s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53048" y="5111496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53048" y="5330952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19.4M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R-CNN: Methodology Notes &amp; Limits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comparison establishes, and what it doesn’t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10911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constant across both arms: same 7,578-image stratified training subset, splits, taxonomy, seed, resolution, batch size, LR, optimizer, schedule, class-balanced sampler, and augmentation.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tuned per-backbone: learning rate was shared rather than individually tuned — the cleaner control for isolating “which backbone,” at the cost of neither number being that backbone’s best achievable result.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this uses a 30% stratified subset, not the full dataset YOLOv8 trained on — absolute mAP isn’t directly comparable to the YOLO numbers, though ResNet-50 vs. MobileNet is valid.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measured single-stream on one GPU class; MobileNet’s speed advantage is typically larger on CPU/edge hardware, not captured here.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1: YOLOv8 vs. Faster R-CNN Head-to-Head</a:t>
            </a:r>
            <a:endParaRPr lang="en-US" sz="3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01368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R-CNN (ResNet-50)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~23K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7,578-image subset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Single-stage, anchor-free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(region proposal + classify)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intent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Speed-optimized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Accuracy-oriented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99592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mAP@50-95 (the stricter, standard benchmark metric) is close between the two despite the data-volume gap — not a clean “winner,” a genuine architecture/data-budget tradeoff.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2: Jaccard vs. Qwen Embeddings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fine-tuning triplet setups vs. a keyword-matching baseline</a:t>
            </a:r>
            <a:endParaRPr lang="en-US" sz="1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58568"/>
          <a:ext cx="10911535" cy="914400"/>
        </p:xfrm>
        <a:graphic>
          <a:graphicData uri="http://schemas.openxmlformats.org/drawingml/2006/table">
            <a:tbl>
              <a:tblPr/>
              <a:tblGrid>
                <a:gridCol w="2727884"/>
                <a:gridCol w="2727884"/>
                <a:gridCol w="2727884"/>
                <a:gridCol w="272788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HR@1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MRR@1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HR@50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(keyword)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Qwen, un-tuned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B (ingr→ingr, best tuned)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C (dish→dish name)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A (dish→ingr)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F5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509402" y="4773168"/>
            <a:ext cx="5172891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pic>
        <p:nvPicPr>
          <p:cNvPr id="8" name="Image 0" descr="/private/tmp/claude-501/-Users-karmakendall-repos-adsp32023-FinalProject/221eb9ba-e4b2-4f3b-b6d5-3a49999dc661/scratchpad/pptx_build/assets/chart_triple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6562" y="4910328"/>
            <a:ext cx="4898571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2: Finding &amp; Algorithm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simple keyword matching beat every embedding variant, tuned or not, at every 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32888"/>
            <a:ext cx="5227168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71576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Jaccard Similarity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218688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3438144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deterministic, no training required — naturally suited to set overlap between ingredient lists.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941064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semantic understanding — can’t match “scallion” to “green onion” unless literally the same token.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24448" y="2532888"/>
            <a:ext cx="5227168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D8D2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3048" y="271576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Qwen3 Embeddings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3048" y="3218688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53048" y="3438144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 principle capture semantic and synonym relationships Jaccard can’t.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53048" y="3941064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53048" y="416052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Underperformed the simpler baseline across all four triplet strategies tested — semantic capacity wasn’t the limiting factor.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Operations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mechanism and maintenance plan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70048"/>
            <a:ext cx="5181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exported to ONNX (dynamic input shape) for framework-agnostic serving.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ingredient labels feed a Jaccard retrieval engine against the 13,509-recipe corpus.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via a FastAPI endpoint: image in, ranked recipe list out.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70168" y="2258568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0168" y="2670048"/>
            <a:ext cx="5181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Checkpoint-and-resume training pipeline: every epoch’s weights persist to durable storage, so retraining resumes rather than restarts.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AP monitoring flags exactly which ingredient classes need more training data.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Sample-size toggle allows fast validation of any pipeline change before a full retrain.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EE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869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Conclusion: Limitations &amp; Future Work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01368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5181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imbalance: 7,338x gap between the most and least common classes (banana vs. long beans).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of 148 classes have zero test-set instances — a consequence of non-class-stratified splitting.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skews heavily toward produce; protein and spice classes lack sufficient training examples.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(full dataset) and Faster R-CNN (stratified subset) aren’t trained on identical data volumes.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70168" y="1801368"/>
            <a:ext cx="518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70168" y="2212848"/>
            <a:ext cx="51814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Class-stratified splitting to guarantee test coverage across all classes.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F5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data collection for underrepresented protein/spice/staple classes.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2026-08-15T04:40:14Z</dcterms:created>
  <dcterms:modified xsi:type="dcterms:W3CDTF">2026-08-15T04:40:14Z</dcterms:modified>
</cp:coreProperties>
</file>